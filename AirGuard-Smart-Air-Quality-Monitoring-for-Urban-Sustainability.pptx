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erriweather"/>
      <p:regular r:id="rId201314"/>
    </p:embeddedFont>
    <p:embeddedFont>
      <p:font typeface="Merriweather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1981597"/>
            <a:ext cx="6180181" cy="192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AirGuard: Smart Air Quality Monitoring for Urban Sustainability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814" y="4218285"/>
            <a:ext cx="618018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 evidence-based solution for real-time air quality awareness, health protection, and data-driven urban policy.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825302"/>
            <a:ext cx="6180181" cy="1285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Urban Air Quality Crisis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9814" y="2419251"/>
            <a:ext cx="2987203" cy="1868388"/>
          </a:xfrm>
          <a:prstGeom prst="roundRect">
            <a:avLst>
              <a:gd name="adj" fmla="val 4624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8189" y="2637631"/>
            <a:ext cx="25504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 Million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8189" y="3082230"/>
            <a:ext cx="2550453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Premature deaths annually attributed to air pollution — WHO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912693" y="2419251"/>
            <a:ext cx="2987303" cy="1868388"/>
          </a:xfrm>
          <a:prstGeom prst="roundRect">
            <a:avLst>
              <a:gd name="adj" fmla="val 4624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31068" y="2637631"/>
            <a:ext cx="25505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90% of Cities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31068" y="3082230"/>
            <a:ext cx="2550553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Major urban centres exceed safe PM2.5 and PM10 levels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9814" y="4493320"/>
            <a:ext cx="6180181" cy="1539379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8189" y="4711700"/>
            <a:ext cx="574343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Fragmented Data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8189" y="5156299"/>
            <a:ext cx="574343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Monitoring systems are expensive, siloed, and inaccessible to citizens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82526"/>
            <a:ext cx="10752067" cy="502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This Matters for Cities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832868"/>
            <a:ext cx="6851677" cy="388262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9745" y="1514177"/>
            <a:ext cx="3508486" cy="14229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5624" y="1693863"/>
            <a:ext cx="3072926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Health Impact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8225624" y="2070497"/>
            <a:ext cx="3072926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Respiratory diseases, cardiovascular problems, and measurably reduced life expectancy across urban populations.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9745" y="3062684"/>
            <a:ext cx="3508486" cy="14229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5624" y="3242370"/>
            <a:ext cx="3072926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Economic Cost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8225624" y="3619004"/>
            <a:ext cx="3072926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Surging healthcare expenses, lost workforce productivity, and long-term environmental degradation.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9745" y="4611191"/>
            <a:ext cx="3508486" cy="14229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25624" y="4790877"/>
            <a:ext cx="3072926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Equity Gap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8225624" y="5167511"/>
            <a:ext cx="3072926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Low-income communities remain systematically excluded from real-time pollution data and health guidance.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Sustainability Challenge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9224" y="989707"/>
            <a:ext cx="6273147" cy="53701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68614" y="2599538"/>
            <a:ext cx="2419200" cy="30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Affordable Sensors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753350" y="2416749"/>
            <a:ext cx="2107392" cy="30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Health Guidance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710406" y="4932780"/>
            <a:ext cx="1827840" cy="30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Planner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19814" y="6417667"/>
            <a:ext cx="1136165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Bridging the gap between raw environmental data and meaningful, accessible action requires tools designed for people — not just institutions.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566738"/>
            <a:ext cx="6180181" cy="1285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Introducing AirGuard: The Solution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160687"/>
            <a:ext cx="514139" cy="514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91022" y="2160687"/>
            <a:ext cx="54089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AQI Monitoring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491022" y="2605286"/>
            <a:ext cx="540897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Location-based search delivers live air quality index readings for any city, instantly.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3674666"/>
            <a:ext cx="514139" cy="5141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91022" y="3674666"/>
            <a:ext cx="54089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Multi-Pollutant Tracking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491022" y="4119265"/>
            <a:ext cx="540897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Individual measurements for PM2.5, PM10, CO, and NO₂ — the key urban pollutants.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814" y="5188645"/>
            <a:ext cx="514139" cy="5141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91022" y="5188645"/>
            <a:ext cx="54089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Intelligent Alerts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491022" y="5633244"/>
            <a:ext cx="540897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Customisable health advisories and warnings tailored for vulnerable population groups.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Features: Dashboard Overview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021854"/>
            <a:ext cx="5250624" cy="5250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607" y="3296841"/>
            <a:ext cx="525062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Built for Citizens, Not Specialists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27607" y="3508970"/>
            <a:ext cx="5250624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AirGuard translates complex environmental data into clear, actionable information. The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Air Quality Index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condenses multi-pollutant readings into one intuitive score. Individual pollutant breakdowns provide scientific depth for researchers and planners. The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6-hour forecast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empowers users to make proactive decisions — from choosing outdoor exercise times to planning school trips.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281410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Sustainability Impact: How AirGuard Helps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2335510"/>
            <a:ext cx="1979265" cy="12232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3815854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Citizen Awareness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9814" y="4260453"/>
            <a:ext cx="3412643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local air quality data empowers everyday decisions about outdoor exposure and commuting.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526" y="2335510"/>
            <a:ext cx="1979265" cy="12232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526" y="3815854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Health Protection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389526" y="4260453"/>
            <a:ext cx="3412643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Personalised alerts reduce exposure to dangerous pollution events, especially for vulnerable groups.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38" y="2335510"/>
            <a:ext cx="1979265" cy="12232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9238" y="3815854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Data-Driven Policy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8059238" y="4260453"/>
            <a:ext cx="3412643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Trend data enables cities to identify pollution hotspots and implement targeted emission reduction strategies.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57138"/>
            <a:ext cx="5156468" cy="1124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Health Advisory System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9814" y="2039342"/>
            <a:ext cx="5156468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AirGuard's advisory engine activates automatically when AQI reaches unhealthy thresholds, ensuring no user is caught off guard by a sudden pollution spike.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9814" y="2990949"/>
            <a:ext cx="5156468" cy="172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Automatic warnings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triggered when AQI exceeds safe levels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Tailored guidance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children, the elderly, and respiratory patients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Practical recommendations: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mask usage, outdoor activity limits, and protective measures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9814" y="4898033"/>
            <a:ext cx="5156468" cy="1183184"/>
          </a:xfrm>
          <a:prstGeom prst="roundRect">
            <a:avLst>
              <a:gd name="adj" fmla="val 6389"/>
            </a:avLst>
          </a:prstGeom>
          <a:solidFill>
            <a:srgbClr val="00318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693" y="5139829"/>
            <a:ext cx="224923" cy="1798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4495" y="5084663"/>
            <a:ext cx="4391907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Vulnerable populations receive specific, condition-appropriate advice — not generic public health messaging.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2087" y="599678"/>
            <a:ext cx="5415819" cy="5658644"/>
          </a:xfrm>
          <a:prstGeom prst="roundRect">
            <a:avLst>
              <a:gd name="adj" fmla="val 2393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371966" y="757138"/>
            <a:ext cx="5056061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AQI Health Categories</a:t>
            </a:r>
            <a:endParaRPr lang="en-US" sz="1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1966" y="1215330"/>
          <a:ext cx="9143771" cy="914400"/>
        </p:xfrm>
        <a:graphic>
          <a:graphicData uri="http://schemas.openxmlformats.org/drawingml/2006/table">
            <a:tbl>
              <a:tblPr/>
              <a:tblGrid>
                <a:gridCol w="1685354"/>
                <a:gridCol w="1685354"/>
                <a:gridCol w="1685354"/>
              </a:tblGrid>
              <a:tr h="474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AQI Range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Category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Advisory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47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0–50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Good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No action needed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017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51–100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Moderate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Sensitive groups cautious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287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101–150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Unhealthy (Sensitive)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Limit prolonged outdoor exertion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478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151–200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Unhealthy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Masks recommended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4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200+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Hazardous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Stay indoors</a:t>
                      </a:r>
                      <a:endParaRPr lang="en-US" sz="14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9977" marR="17997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371966" y="1678832"/>
            <a:ext cx="5056061" cy="1124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371966" y="2426724"/>
            <a:ext cx="5056061" cy="1124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6371966" y="3444584"/>
            <a:ext cx="5056061" cy="1124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6371966" y="4732411"/>
            <a:ext cx="5056061" cy="1124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371966" y="5480303"/>
            <a:ext cx="5056061" cy="1124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614363"/>
            <a:ext cx="6180181" cy="114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Customisable Alert Thresholds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19814" y="2004020"/>
            <a:ext cx="732712" cy="1304429"/>
          </a:xfrm>
          <a:prstGeom prst="roundRect">
            <a:avLst>
              <a:gd name="adj" fmla="val 5000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805" y="2518866"/>
            <a:ext cx="274730" cy="2747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638" y="2187178"/>
            <a:ext cx="5284358" cy="28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User-Defined Levels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615638" y="2571254"/>
            <a:ext cx="5284358" cy="554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Set personal alert thresholds at AQI 100, 150, 200, or 300 — calibrated to individual health sensitivity.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19814" y="3471565"/>
            <a:ext cx="732712" cy="1304429"/>
          </a:xfrm>
          <a:prstGeom prst="roundRect">
            <a:avLst>
              <a:gd name="adj" fmla="val 5000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805" y="3986411"/>
            <a:ext cx="274730" cy="2747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5638" y="3654723"/>
            <a:ext cx="5284358" cy="28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Browser Notifications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615638" y="4038798"/>
            <a:ext cx="5284358" cy="554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Instant push alerts trigger the moment thresholds are exceeded, requiring no manual monitoring.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19814" y="4939109"/>
            <a:ext cx="732712" cy="1304429"/>
          </a:xfrm>
          <a:prstGeom prst="roundRect">
            <a:avLst>
              <a:gd name="adj" fmla="val 5000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8805" y="5453955"/>
            <a:ext cx="274730" cy="2747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5638" y="5122267"/>
            <a:ext cx="5284358" cy="28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Proactive Behaviour Change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615638" y="5506343"/>
            <a:ext cx="5284358" cy="554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Timely alerts enable users to modify outdoor plans before exposure occurs — not after.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29047"/>
            <a:ext cx="10752067" cy="562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Next Steps: Scaling AirGuard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19814" y="1506339"/>
            <a:ext cx="1791945" cy="1275259"/>
          </a:xfrm>
          <a:prstGeom prst="roundRect">
            <a:avLst>
              <a:gd name="adj" fmla="val 592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9236" y="2017415"/>
            <a:ext cx="253001" cy="2530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91638" y="1686223"/>
            <a:ext cx="8600364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Phase 1: Real Data Integration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691638" y="2061766"/>
            <a:ext cx="8600364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 live APIs from national and regional environmental agencies to replace prototype mock data.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1649" y="2768898"/>
            <a:ext cx="8780342" cy="12700"/>
          </a:xfrm>
          <a:prstGeom prst="roundRect">
            <a:avLst>
              <a:gd name="adj" fmla="val 49999"/>
            </a:avLst>
          </a:prstGeom>
          <a:solidFill>
            <a:srgbClr val="194A99"/>
          </a:solidFill>
          <a:ln/>
        </p:spPr>
      </p:sp>
      <p:sp>
        <p:nvSpPr>
          <p:cNvPr id="8" name="Shape 5"/>
          <p:cNvSpPr/>
          <p:nvPr/>
        </p:nvSpPr>
        <p:spPr>
          <a:xfrm>
            <a:off x="719814" y="2871490"/>
            <a:ext cx="3583989" cy="1275259"/>
          </a:xfrm>
          <a:prstGeom prst="roundRect">
            <a:avLst>
              <a:gd name="adj" fmla="val 592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5258" y="3382566"/>
            <a:ext cx="253001" cy="2530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3682" y="3051373"/>
            <a:ext cx="6808320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Phase 2: Multi-City Expansion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483682" y="3426916"/>
            <a:ext cx="680832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Deploy across multiple urban centres with predictive ML models for longer-range pollution forecasting.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93693" y="4134048"/>
            <a:ext cx="6988298" cy="12700"/>
          </a:xfrm>
          <a:prstGeom prst="roundRect">
            <a:avLst>
              <a:gd name="adj" fmla="val 49999"/>
            </a:avLst>
          </a:prstGeom>
          <a:solidFill>
            <a:srgbClr val="194A99"/>
          </a:solidFill>
          <a:ln/>
        </p:spPr>
      </p:sp>
      <p:sp>
        <p:nvSpPr>
          <p:cNvPr id="13" name="Shape 9"/>
          <p:cNvSpPr/>
          <p:nvPr/>
        </p:nvSpPr>
        <p:spPr>
          <a:xfrm>
            <a:off x="719814" y="4236641"/>
            <a:ext cx="5376033" cy="1545233"/>
          </a:xfrm>
          <a:prstGeom prst="roundRect">
            <a:avLst>
              <a:gd name="adj" fmla="val 4892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1280" y="4882753"/>
            <a:ext cx="253001" cy="2530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75727" y="4416524"/>
            <a:ext cx="5016275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Phase 3: Mobile + Community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6275727" y="4792067"/>
            <a:ext cx="5016275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Launch a mobile application with crowdsourced community reporting to extend sensor coverage and civic engagement.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15022" y="5958979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AirGuard — from prototype to platform, one city at a 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2026-09-25T10:08:25Z</dcterms:created>
  <dcterms:modified xsi:type="dcterms:W3CDTF">2026-09-25T10:08:25Z</dcterms:modified>
</cp:coreProperties>
</file>